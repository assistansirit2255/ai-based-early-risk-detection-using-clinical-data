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497" r:id="rId3"/>
    <p:sldId id="499" r:id="rId4"/>
    <p:sldId id="500" r:id="rId5"/>
    <p:sldId id="501" r:id="rId6"/>
    <p:sldId id="502" r:id="rId7"/>
    <p:sldId id="503" r:id="rId8"/>
    <p:sldId id="504" r:id="rId9"/>
    <p:sldId id="505" r:id="rId10"/>
    <p:sldId id="506" r:id="rId11"/>
    <p:sldId id="507" r:id="rId12"/>
    <p:sldId id="269" r:id="rId13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87D443-07B1-4F47-9859-E7065F86AD1B}" v="17" dt="2026-01-28T14:38:25.3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>
      <p:cViewPr>
        <p:scale>
          <a:sx n="100" d="100"/>
          <a:sy n="100" d="100"/>
        </p:scale>
        <p:origin x="970" y="-5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504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546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A6B61-674B-0ABF-F5C3-A72BF284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FBED0-DE41-A040-921A-D95B5185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3F754-664A-ECDE-8199-65800D976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F3E54-5ADF-52CC-11B5-B7F7837DE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29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20415" y="2060848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6440" y="2219553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Pre-Final Year Project Synopsis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721500"/>
              </p:ext>
            </p:extLst>
          </p:nvPr>
        </p:nvGraphicFramePr>
        <p:xfrm>
          <a:off x="1696134" y="3086002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5372704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050249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898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2401201147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PAYAL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101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2401201191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PREETI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206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2401201199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NIHARIKA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194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2401201212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GARIMA SHARMA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3750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2414493" y="1150499"/>
            <a:ext cx="46592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US" sz="2400" b="1" dirty="0"/>
              <a:t>AI-Based Early Health Risk Prediction Using Clinical Data</a:t>
            </a:r>
            <a:endParaRPr lang="en-IN" sz="2400" b="1" dirty="0">
              <a:solidFill>
                <a:srgbClr val="C0000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</a:t>
            </a: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DR. REENU</a:t>
            </a: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1537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5E24197-B416-2592-7F59-2D6B3DEFF31F}"/>
              </a:ext>
            </a:extLst>
          </p:cNvPr>
          <p:cNvSpPr txBox="1"/>
          <p:nvPr/>
        </p:nvSpPr>
        <p:spPr>
          <a:xfrm>
            <a:off x="395536" y="1393777"/>
            <a:ext cx="741682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Healthcare systems generate large volumes of clinical data, but this data is mostly used for diagnosis after disease progression.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Delayed detection limits preventive care and increases health risks and treatment costs.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research-based project proposes an </a:t>
            </a:r>
            <a:r>
              <a:rPr lang="en-US" b="1" dirty="0"/>
              <a:t>AI-driven system for early health risk prediction</a:t>
            </a:r>
            <a:r>
              <a:rPr lang="en-US" dirty="0"/>
              <a:t> using clinical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Machine learning models analyze routine healthcare parameters to identify early risk patterns.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Patients are classified into </a:t>
            </a:r>
            <a:r>
              <a:rPr lang="en-US" b="1" dirty="0"/>
              <a:t>Low, Medium, and High risk categories</a:t>
            </a:r>
            <a:r>
              <a:rPr lang="en-US" dirty="0"/>
              <a:t> to support preventive decision-making.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aims to assist healthcare professionals with </a:t>
            </a:r>
            <a:r>
              <a:rPr lang="en-US" b="1" dirty="0"/>
              <a:t>data-driven insights</a:t>
            </a:r>
            <a:r>
              <a:rPr lang="en-US" dirty="0"/>
              <a:t>, enabling early intervention and improved patient outcomes.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543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18" name="Rectangle 6">
            <a:extLst>
              <a:ext uri="{FF2B5EF4-FFF2-40B4-BE49-F238E27FC236}">
                <a16:creationId xmlns:a16="http://schemas.microsoft.com/office/drawing/2014/main" id="{6E02E201-0C62-A5C3-C2FF-8386DE970B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5536" y="1196823"/>
            <a:ext cx="779974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and preprocess clinical healthcare data for early risk prediction.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identify key clinical features contributing to early health risks.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and compare multiple machine learning prediction models.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classify patients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Low, Medium, and High risk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categories.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support preventive healthcare through data-driven decision support.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800" dirty="0"/>
              <a:t>To evaluate model performance using healthcare-relevant metrics.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-2697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CE88BE-6597-5772-634A-00327FD5092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23528" y="1075807"/>
            <a:ext cx="842493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Utilization of multiple machine learning classification models.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Multi-level risk classification: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Low, Medium, High.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Comparative analysis of model performance.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of publicly available and ethical clinical datasets.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for preventive and proactive healthcare decision-making.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AI-based early health risk prediction using clinical data.</a:t>
            </a:r>
          </a:p>
        </p:txBody>
      </p:sp>
    </p:spTree>
    <p:extLst>
      <p:ext uri="{BB962C8B-B14F-4D97-AF65-F5344CB8AC3E}">
        <p14:creationId xmlns:p14="http://schemas.microsoft.com/office/powerpoint/2010/main" val="95742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61173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3200" b="1" kern="1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Usecases</a:t>
            </a: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&amp; Scope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Use Cases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Early identification of patients at potential health risk.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Decision support system for doctors and healthcare professionals.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Preventive healthcare planning and patient monitoring.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Healthcare analytics for hospitals and research institutions.</a:t>
            </a:r>
          </a:p>
          <a:p>
            <a:endParaRPr lang="en-US" dirty="0"/>
          </a:p>
          <a:p>
            <a:r>
              <a:rPr lang="en-US" sz="3200" b="1" dirty="0"/>
              <a:t>Scope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Applicable to multiple diseases using clinical data.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Can be extended to real-time hospital information systems.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Scalable for large-scale healthcare datasets.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Provides a foundation for future healthcare AI research.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nput Layer&#10;• Patient Demographics&#10;• Vital Signs&#10;• Lab Results&#10;• Medical History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717" y="19472"/>
            <a:ext cx="10119061" cy="727016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346645"/>
            <a:ext cx="82809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Flow diagram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BCC3C96-AD77-F7A5-78C0-39814C39A5E3}"/>
              </a:ext>
            </a:extLst>
          </p:cNvPr>
          <p:cNvSpPr/>
          <p:nvPr/>
        </p:nvSpPr>
        <p:spPr>
          <a:xfrm>
            <a:off x="531098" y="1333282"/>
            <a:ext cx="2232248" cy="209571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7BD2926-B1D0-5418-D53B-DF4A38179EEC}"/>
              </a:ext>
            </a:extLst>
          </p:cNvPr>
          <p:cNvSpPr/>
          <p:nvPr/>
        </p:nvSpPr>
        <p:spPr>
          <a:xfrm>
            <a:off x="3519278" y="1311654"/>
            <a:ext cx="2191772" cy="21173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EA7957B-862A-8ACD-2160-CED95836EA29}"/>
              </a:ext>
            </a:extLst>
          </p:cNvPr>
          <p:cNvSpPr/>
          <p:nvPr/>
        </p:nvSpPr>
        <p:spPr>
          <a:xfrm>
            <a:off x="1619672" y="3994087"/>
            <a:ext cx="2563798" cy="200050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31B1BB9-8EED-DCA2-B910-B3274A327CF6}"/>
              </a:ext>
            </a:extLst>
          </p:cNvPr>
          <p:cNvSpPr/>
          <p:nvPr/>
        </p:nvSpPr>
        <p:spPr>
          <a:xfrm>
            <a:off x="5143826" y="3968561"/>
            <a:ext cx="2562421" cy="198013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1698351-D0D6-920F-F6D3-51F3E376CCD1}"/>
              </a:ext>
            </a:extLst>
          </p:cNvPr>
          <p:cNvSpPr/>
          <p:nvPr/>
        </p:nvSpPr>
        <p:spPr>
          <a:xfrm>
            <a:off x="6337136" y="1333282"/>
            <a:ext cx="2347774" cy="205372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C48699-26B8-9A5D-FEEB-78FF21614FDF}"/>
              </a:ext>
            </a:extLst>
          </p:cNvPr>
          <p:cNvSpPr txBox="1"/>
          <p:nvPr/>
        </p:nvSpPr>
        <p:spPr>
          <a:xfrm>
            <a:off x="611560" y="1632808"/>
            <a:ext cx="306033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Input Layer</a:t>
            </a:r>
          </a:p>
          <a:p>
            <a:r>
              <a:rPr lang="en-US" sz="1600" dirty="0"/>
              <a:t>• Patient Demographics</a:t>
            </a:r>
          </a:p>
          <a:p>
            <a:r>
              <a:rPr lang="en-US" sz="1600" dirty="0"/>
              <a:t>• Vital Signs</a:t>
            </a:r>
          </a:p>
          <a:p>
            <a:r>
              <a:rPr lang="en-US" sz="1600" dirty="0"/>
              <a:t>• Lab Results</a:t>
            </a:r>
          </a:p>
          <a:p>
            <a:r>
              <a:rPr lang="en-US" sz="1600" dirty="0"/>
              <a:t>• Medical History</a:t>
            </a:r>
            <a:endParaRPr lang="en-IN" sz="16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FF68654-DD19-9F28-ECB3-34FE98A8EE54}"/>
              </a:ext>
            </a:extLst>
          </p:cNvPr>
          <p:cNvCxnSpPr>
            <a:cxnSpLocks/>
          </p:cNvCxnSpPr>
          <p:nvPr/>
        </p:nvCxnSpPr>
        <p:spPr>
          <a:xfrm flipV="1">
            <a:off x="2901571" y="2360143"/>
            <a:ext cx="390334" cy="10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B427A04-A754-B1C0-DB80-628210F08995}"/>
              </a:ext>
            </a:extLst>
          </p:cNvPr>
          <p:cNvSpPr txBox="1"/>
          <p:nvPr/>
        </p:nvSpPr>
        <p:spPr>
          <a:xfrm>
            <a:off x="3519278" y="1668516"/>
            <a:ext cx="256242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Data Processing Layer</a:t>
            </a:r>
          </a:p>
          <a:p>
            <a:r>
              <a:rPr lang="en-US" sz="1400" dirty="0"/>
              <a:t>• Data Cleaning</a:t>
            </a:r>
          </a:p>
          <a:p>
            <a:r>
              <a:rPr lang="en-US" sz="1400" dirty="0"/>
              <a:t>• Missing Value Handling</a:t>
            </a:r>
          </a:p>
          <a:p>
            <a:r>
              <a:rPr lang="en-US" sz="1400" dirty="0"/>
              <a:t>• Normalization</a:t>
            </a:r>
          </a:p>
          <a:p>
            <a:r>
              <a:rPr lang="en-US" sz="1400" dirty="0"/>
              <a:t>• Feature Selection</a:t>
            </a:r>
            <a:endParaRPr lang="en-IN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C12143-D501-9D80-FF2F-C6307022BAF0}"/>
              </a:ext>
            </a:extLst>
          </p:cNvPr>
          <p:cNvSpPr txBox="1"/>
          <p:nvPr/>
        </p:nvSpPr>
        <p:spPr>
          <a:xfrm>
            <a:off x="6583986" y="1558573"/>
            <a:ext cx="194845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Machine Learning Layer</a:t>
            </a:r>
          </a:p>
          <a:p>
            <a:r>
              <a:rPr lang="en-US" sz="1400" dirty="0"/>
              <a:t>• Logistic Regression</a:t>
            </a:r>
          </a:p>
          <a:p>
            <a:r>
              <a:rPr lang="en-US" sz="1400" dirty="0"/>
              <a:t>• Decision Tree</a:t>
            </a:r>
          </a:p>
          <a:p>
            <a:r>
              <a:rPr lang="en-US" sz="1400" dirty="0"/>
              <a:t>• Random Forest</a:t>
            </a:r>
          </a:p>
          <a:p>
            <a:r>
              <a:rPr lang="en-US" sz="1400" dirty="0"/>
              <a:t>• SVM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735CA0-0055-7D72-2112-C9F8D66DB0F6}"/>
              </a:ext>
            </a:extLst>
          </p:cNvPr>
          <p:cNvSpPr txBox="1"/>
          <p:nvPr/>
        </p:nvSpPr>
        <p:spPr>
          <a:xfrm>
            <a:off x="1746688" y="4283740"/>
            <a:ext cx="234777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  Prediction Layer</a:t>
            </a:r>
          </a:p>
          <a:p>
            <a:r>
              <a:rPr lang="en-US" sz="1400" dirty="0"/>
              <a:t>• Risk Score Calculation</a:t>
            </a:r>
          </a:p>
          <a:p>
            <a:r>
              <a:rPr lang="en-US" sz="1400" dirty="0"/>
              <a:t>• Pattern Analysis</a:t>
            </a:r>
            <a:endParaRPr lang="en-IN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DD33AA-C811-C6BA-B7CF-FEB9816F9814}"/>
              </a:ext>
            </a:extLst>
          </p:cNvPr>
          <p:cNvSpPr txBox="1"/>
          <p:nvPr/>
        </p:nvSpPr>
        <p:spPr>
          <a:xfrm>
            <a:off x="5711050" y="4176017"/>
            <a:ext cx="20965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Output Layer</a:t>
            </a:r>
          </a:p>
          <a:p>
            <a:r>
              <a:rPr lang="en-US" sz="1400" dirty="0"/>
              <a:t>• Low Risk</a:t>
            </a:r>
          </a:p>
          <a:p>
            <a:r>
              <a:rPr lang="en-US" sz="1400" dirty="0"/>
              <a:t>• Medium Risk</a:t>
            </a:r>
          </a:p>
          <a:p>
            <a:r>
              <a:rPr lang="en-US" sz="1400" dirty="0"/>
              <a:t>• High Risk</a:t>
            </a:r>
            <a:endParaRPr lang="en-IN" sz="14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96CE9E5-0DCD-7FDF-9CF2-894A76FEFF38}"/>
              </a:ext>
            </a:extLst>
          </p:cNvPr>
          <p:cNvCxnSpPr>
            <a:cxnSpLocks/>
          </p:cNvCxnSpPr>
          <p:nvPr/>
        </p:nvCxnSpPr>
        <p:spPr>
          <a:xfrm flipV="1">
            <a:off x="5809473" y="2360143"/>
            <a:ext cx="375193" cy="10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E0C06DF-5D22-CB76-7229-844DF5F524F6}"/>
              </a:ext>
            </a:extLst>
          </p:cNvPr>
          <p:cNvCxnSpPr>
            <a:cxnSpLocks/>
          </p:cNvCxnSpPr>
          <p:nvPr/>
        </p:nvCxnSpPr>
        <p:spPr>
          <a:xfrm>
            <a:off x="4572000" y="5013176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7A919E-7DB1-E6B8-D950-8901A88C816D}"/>
              </a:ext>
            </a:extLst>
          </p:cNvPr>
          <p:cNvSpPr txBox="1"/>
          <p:nvPr/>
        </p:nvSpPr>
        <p:spPr>
          <a:xfrm>
            <a:off x="611560" y="1293834"/>
            <a:ext cx="7556751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Data Sources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Publicly available clinical datasets.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Datasets obtained from </a:t>
            </a:r>
            <a:r>
              <a:rPr lang="en-IN" b="1" dirty="0"/>
              <a:t>UCI Machine Learning Repository</a:t>
            </a:r>
            <a:r>
              <a:rPr lang="en-IN" dirty="0"/>
              <a:t> and </a:t>
            </a:r>
            <a:r>
              <a:rPr lang="en-IN" b="1" dirty="0"/>
              <a:t>Kaggle.</a:t>
            </a:r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Data includes patient demographics, vital signs, laboratory results, and medical history.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Only anonymized and ethical datasets are used.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dirty="0"/>
          </a:p>
          <a:p>
            <a:r>
              <a:rPr lang="en-IN" sz="3200" b="1" dirty="0"/>
              <a:t>Resources Used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Python programming language.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Machine learning libraries: Pandas, NumPy, Scikit-learn.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Visualization tools: Matplotlib.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Development environment: </a:t>
            </a:r>
            <a:r>
              <a:rPr lang="en-IN" dirty="0" err="1"/>
              <a:t>Jupyter</a:t>
            </a:r>
            <a:r>
              <a:rPr lang="en-IN" dirty="0"/>
              <a:t> Notebook.</a:t>
            </a:r>
          </a:p>
          <a:p>
            <a:pPr algn="l"/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449068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9AC123-1FF4-759B-44D8-95C077A7D7D5}"/>
              </a:ext>
            </a:extLst>
          </p:cNvPr>
          <p:cNvSpPr txBox="1"/>
          <p:nvPr/>
        </p:nvSpPr>
        <p:spPr>
          <a:xfrm>
            <a:off x="330929" y="1315578"/>
            <a:ext cx="860674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Collection of publicly available clinical healthcare datasets.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Data preprocessing including cleaning, normalization, and handling missing values.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Exploratory data analysis and feature selection to identify important clinical attributes.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Development of machine learning models (Logistic Regression, Decision Tree, Random Forest, SVM).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Model training and evaluation using accuracy, precision, recall, and F1-score.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Classification of patients into </a:t>
            </a:r>
            <a:r>
              <a:rPr lang="en-US" b="1" dirty="0"/>
              <a:t>Low, Medium, and High risk</a:t>
            </a:r>
            <a:r>
              <a:rPr lang="en-US" dirty="0"/>
              <a:t> categories.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099878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97768" y="1412776"/>
            <a:ext cx="8784976" cy="4041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b="1" dirty="0"/>
              <a:t>Expected Results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Accurate early prediction of potential health risks using clinical data.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Identification of key clinical features influencing risk prediction.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Improved performance through comparative analysis of ML models.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Effective classification of patients into </a:t>
            </a:r>
            <a:r>
              <a:rPr lang="en-US" b="1" dirty="0"/>
              <a:t>Low, Medium, and High risk</a:t>
            </a:r>
            <a:r>
              <a:rPr lang="en-US" dirty="0"/>
              <a:t> categories.</a:t>
            </a:r>
          </a:p>
          <a:p>
            <a:r>
              <a:rPr lang="en-US" sz="2800" b="1" dirty="0"/>
              <a:t> </a:t>
            </a:r>
          </a:p>
          <a:p>
            <a:r>
              <a:rPr lang="en-US" sz="2800" b="1" dirty="0"/>
              <a:t> Impact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Supports preventive and proactive healthcare decision-making.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Enables early medical intervention and risk management.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Helps reduce disease progression and healthcare costs.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Contributes to research in AI-based healthcare analytics.</a:t>
            </a: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D42DB-FF71-D8E6-630F-399C60C5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FB631E-E469-C80D-C58A-99E545F37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B6D9598-AD90-B9CA-8610-998CE22F1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2D34C-9176-DD2A-8AAF-507BD46BD71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066F8A4-300F-9AE0-4A5E-2A2D19A8A5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66FAC4-E627-209B-D9A4-20EC84D69C4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5F2EFED-D849-DF40-22A3-9DDEC5EAEB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632894"/>
              </p:ext>
            </p:extLst>
          </p:nvPr>
        </p:nvGraphicFramePr>
        <p:xfrm>
          <a:off x="457200" y="1484784"/>
          <a:ext cx="8229600" cy="4161478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89156097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33050970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5911963"/>
                    </a:ext>
                  </a:extLst>
                </a:gridCol>
              </a:tblGrid>
              <a:tr h="426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Phase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Activity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Duration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026879"/>
                  </a:ext>
                </a:extLst>
              </a:tr>
              <a:tr h="746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Phase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Literature Review &amp; Problem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Week 1 –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5672460"/>
                  </a:ext>
                </a:extLst>
              </a:tr>
              <a:tr h="746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Phase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Dataset Study &amp; Data 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Week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686003"/>
                  </a:ext>
                </a:extLst>
              </a:tr>
              <a:tr h="746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Phase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 Development &amp;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Week 4 –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9465071"/>
                  </a:ext>
                </a:extLst>
              </a:tr>
              <a:tr h="746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Phase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 Evaluation &amp;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Week 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3076585"/>
                  </a:ext>
                </a:extLst>
              </a:tr>
              <a:tr h="746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Phase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Documentation &amp; 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Week 7 – 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2319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9508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6210</TotalTime>
  <Words>747</Words>
  <Application>Microsoft Office PowerPoint</Application>
  <PresentationFormat>On-screen Show (4:3)</PresentationFormat>
  <Paragraphs>164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Garamond</vt:lpstr>
      <vt:lpstr>Söhne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Ridhima Sharma</cp:lastModifiedBy>
  <cp:revision>310</cp:revision>
  <cp:lastPrinted>2022-09-05T08:43:44Z</cp:lastPrinted>
  <dcterms:created xsi:type="dcterms:W3CDTF">2020-01-16T09:05:56Z</dcterms:created>
  <dcterms:modified xsi:type="dcterms:W3CDTF">2026-01-28T14:58:47Z</dcterms:modified>
</cp:coreProperties>
</file>